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3" r:id="rId6"/>
    <p:sldId id="279" r:id="rId7"/>
    <p:sldId id="280" r:id="rId8"/>
    <p:sldId id="262" r:id="rId9"/>
    <p:sldId id="272" r:id="rId10"/>
    <p:sldId id="273" r:id="rId11"/>
    <p:sldId id="274" r:id="rId12"/>
    <p:sldId id="275" r:id="rId13"/>
    <p:sldId id="276" r:id="rId14"/>
    <p:sldId id="277" r:id="rId15"/>
    <p:sldId id="281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36"/>
    <a:srgbClr val="03080D"/>
    <a:srgbClr val="05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ammustafatz/diabetes-prediction-dataset?utm_source=chatgpt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kaggle.com/datasets/prosperchuks/health-dataset?utm_source=chatgpt.com" TargetMode="External"/><Relationship Id="rId4" Type="http://schemas.openxmlformats.org/officeDocument/2006/relationships/hyperlink" Target="https://www.kaggle.com/datasets/fedesoriano/stroke-prediction-dataset?utm_source=chatgpt.co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7760" y="1117600"/>
            <a:ext cx="10160000" cy="330200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2"/>
                </a:solidFill>
                <a:latin typeface="Baskerville Old Face" panose="02020602080505020303" pitchFamily="18" charset="0"/>
                <a:ea typeface="+mj-lt"/>
                <a:cs typeface="+mj-lt"/>
              </a:rPr>
              <a:t>Lifestyle Disease Risk</a:t>
            </a:r>
            <a:br>
              <a:rPr lang="en-US" sz="5400" dirty="0">
                <a:solidFill>
                  <a:schemeClr val="bg2"/>
                </a:solidFill>
                <a:latin typeface="Baskerville Old Face" panose="02020602080505020303" pitchFamily="18" charset="0"/>
                <a:ea typeface="+mj-lt"/>
                <a:cs typeface="+mj-lt"/>
              </a:rPr>
            </a:br>
            <a:r>
              <a:rPr lang="en-US" sz="5400" dirty="0">
                <a:solidFill>
                  <a:schemeClr val="bg2"/>
                </a:solidFill>
                <a:latin typeface="Baskerville Old Face" panose="02020602080505020303" pitchFamily="18" charset="0"/>
                <a:ea typeface="+mj-lt"/>
                <a:cs typeface="+mj-lt"/>
              </a:rPr>
              <a:t> Prediction System</a:t>
            </a:r>
            <a:br>
              <a:rPr lang="en-US" dirty="0">
                <a:ea typeface="+mj-lt"/>
                <a:cs typeface="+mj-lt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22160" y="4236720"/>
            <a:ext cx="4104640" cy="3860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Presented by : Jibi Mol K 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B0-2BB9-93C2-AB6D-31E64F25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91298-9CCF-A5C4-CAE3-8F9E30D82E41}"/>
              </a:ext>
            </a:extLst>
          </p:cNvPr>
          <p:cNvSpPr txBox="1"/>
          <p:nvPr/>
        </p:nvSpPr>
        <p:spPr>
          <a:xfrm rot="10800000" flipH="1" flipV="1">
            <a:off x="195943" y="1960790"/>
            <a:ext cx="119960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Lifestyle diseases such as </a:t>
            </a:r>
            <a:r>
              <a:rPr lang="en-US" sz="2000" b="1" dirty="0">
                <a:solidFill>
                  <a:schemeClr val="bg1"/>
                </a:solidFill>
              </a:rPr>
              <a:t>Diabetes, Heart Disease, and Stroke</a:t>
            </a:r>
            <a:r>
              <a:rPr lang="en-US" sz="2000" dirty="0">
                <a:solidFill>
                  <a:schemeClr val="bg1"/>
                </a:solidFill>
              </a:rPr>
              <a:t> are primarily caused by unhealthy habits including poor diet, lack of physical activity, smoking, and alcohol consumption.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With the growth of </a:t>
            </a:r>
            <a:r>
              <a:rPr lang="en-US" sz="2000" b="1" dirty="0">
                <a:solidFill>
                  <a:schemeClr val="bg1"/>
                </a:solidFill>
              </a:rPr>
              <a:t>machine learning and data analytics</a:t>
            </a:r>
            <a:r>
              <a:rPr lang="en-US" sz="2000" dirty="0">
                <a:solidFill>
                  <a:schemeClr val="bg1"/>
                </a:solidFill>
              </a:rPr>
              <a:t>, it is possible to predict disease risks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at an early stage.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This project focuses on using </a:t>
            </a:r>
            <a:r>
              <a:rPr lang="en-US" sz="2000" b="1" dirty="0">
                <a:solidFill>
                  <a:schemeClr val="bg1"/>
                </a:solidFill>
              </a:rPr>
              <a:t>machine learning models</a:t>
            </a:r>
            <a:r>
              <a:rPr lang="en-US" sz="2000" dirty="0">
                <a:solidFill>
                  <a:schemeClr val="bg1"/>
                </a:solidFill>
              </a:rPr>
              <a:t> to analyze lifestyle and health-related data and </a:t>
            </a:r>
            <a:r>
              <a:rPr lang="en-US" sz="2000" b="1" dirty="0">
                <a:solidFill>
                  <a:schemeClr val="bg1"/>
                </a:solidFill>
              </a:rPr>
              <a:t>predict the risk of lifestyle diseases among different age groups</a:t>
            </a:r>
            <a:r>
              <a:rPr lang="en-US" sz="2000" dirty="0">
                <a:solidFill>
                  <a:schemeClr val="bg1"/>
                </a:solidFill>
              </a:rPr>
              <a:t>, enabling early awareness and preventive care.</a:t>
            </a:r>
          </a:p>
        </p:txBody>
      </p:sp>
    </p:spTree>
    <p:extLst>
      <p:ext uri="{BB962C8B-B14F-4D97-AF65-F5344CB8AC3E}">
        <p14:creationId xmlns:p14="http://schemas.microsoft.com/office/powerpoint/2010/main" val="383725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6275F-F917-1139-317C-069B9A3E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C240-801F-00CA-C14D-99C12AEE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Objectives of the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CB59-D7CE-0DD3-4C0D-2C5153C525FE}"/>
              </a:ext>
            </a:extLst>
          </p:cNvPr>
          <p:cNvSpPr txBox="1"/>
          <p:nvPr/>
        </p:nvSpPr>
        <p:spPr>
          <a:xfrm rot="10800000" flipH="1" flipV="1">
            <a:off x="838200" y="1950482"/>
            <a:ext cx="1240038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To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</a:rPr>
              <a:t> categorize the population into different </a:t>
            </a:r>
            <a:r>
              <a:rPr lang="en-US" sz="2000" b="1" dirty="0">
                <a:solidFill>
                  <a:schemeClr val="bg1"/>
                </a:solidFill>
              </a:rPr>
              <a:t>age groups</a:t>
            </a:r>
            <a:r>
              <a:rPr lang="en-US" sz="2000" dirty="0">
                <a:solidFill>
                  <a:schemeClr val="bg1"/>
                </a:solidFill>
              </a:rPr>
              <a:t> for disease risk analysis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analyze the </a:t>
            </a:r>
            <a:r>
              <a:rPr lang="en-US" sz="2000" b="1" dirty="0">
                <a:solidFill>
                  <a:schemeClr val="bg1"/>
                </a:solidFill>
              </a:rPr>
              <a:t>probability of lifestyle diseases</a:t>
            </a:r>
            <a:r>
              <a:rPr lang="en-US" sz="2000" dirty="0">
                <a:solidFill>
                  <a:schemeClr val="bg1"/>
                </a:solidFill>
              </a:rPr>
              <a:t> such as </a:t>
            </a:r>
            <a:r>
              <a:rPr lang="en-US" sz="2000" b="1" dirty="0">
                <a:solidFill>
                  <a:schemeClr val="bg1"/>
                </a:solidFill>
              </a:rPr>
              <a:t>Diabetes, Stroke, and Heart Disease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across each age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identify the </a:t>
            </a:r>
            <a:r>
              <a:rPr lang="en-US" sz="2000" b="1" dirty="0">
                <a:solidFill>
                  <a:schemeClr val="bg1"/>
                </a:solidFill>
              </a:rPr>
              <a:t>key lifestyle and health parameters</a:t>
            </a:r>
            <a:r>
              <a:rPr lang="en-US" sz="2000" dirty="0">
                <a:solidFill>
                  <a:schemeClr val="bg1"/>
                </a:solidFill>
              </a:rPr>
              <a:t> contributing to each disease.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calculate the </a:t>
            </a:r>
            <a:r>
              <a:rPr lang="en-US" sz="2000" b="1" dirty="0">
                <a:solidFill>
                  <a:schemeClr val="bg1"/>
                </a:solidFill>
              </a:rPr>
              <a:t>percentage distribution</a:t>
            </a:r>
            <a:r>
              <a:rPr lang="en-US" sz="2000" dirty="0">
                <a:solidFill>
                  <a:schemeClr val="bg1"/>
                </a:solidFill>
              </a:rPr>
              <a:t> of disease risk within different age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12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08337-0BF8-F13F-D96C-DFBBF409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000F-B972-A540-72AF-9D1190EA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Design of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74AF2-73DC-933D-B418-C6B40266DB1B}"/>
              </a:ext>
            </a:extLst>
          </p:cNvPr>
          <p:cNvSpPr txBox="1"/>
          <p:nvPr/>
        </p:nvSpPr>
        <p:spPr>
          <a:xfrm rot="10800000" flipH="1" flipV="1">
            <a:off x="707571" y="1664543"/>
            <a:ext cx="1260565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odoni MT" panose="02070603080606020203" pitchFamily="18" charset="0"/>
              </a:rPr>
              <a:t>PURPOSE</a:t>
            </a:r>
            <a:r>
              <a:rPr lang="en-US" sz="2000" dirty="0">
                <a:solidFill>
                  <a:schemeClr val="bg1"/>
                </a:solidFill>
                <a:latin typeface="Bodoni MT" panose="02070603080606020203" pitchFamily="18" charset="0"/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:  </a:t>
            </a:r>
            <a:r>
              <a:rPr lang="en-US" sz="1600" dirty="0">
                <a:solidFill>
                  <a:schemeClr val="bg1"/>
                </a:solidFill>
              </a:rPr>
              <a:t>To analyze age group–wise disease risk and predict the probability of lifestyle diseases such as </a:t>
            </a:r>
            <a:r>
              <a:rPr lang="en-US" sz="1600" b="1" dirty="0">
                <a:solidFill>
                  <a:schemeClr val="bg1"/>
                </a:solidFill>
              </a:rPr>
              <a:t>Diabetes,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                            Heart Disease, and Stroke</a:t>
            </a:r>
            <a:r>
              <a:rPr lang="en-US" sz="1600" dirty="0">
                <a:solidFill>
                  <a:schemeClr val="bg1"/>
                </a:solidFill>
              </a:rPr>
              <a:t> using machine learning techniques.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Bodoni MT" panose="02070603080606020203" pitchFamily="18" charset="0"/>
              </a:rPr>
              <a:t>FRONTEND </a:t>
            </a:r>
            <a:r>
              <a:rPr lang="en-US" sz="1600" dirty="0">
                <a:solidFill>
                  <a:schemeClr val="bg1"/>
                </a:solidFill>
              </a:rPr>
              <a:t>:  Developed using </a:t>
            </a:r>
            <a:r>
              <a:rPr lang="en-US" sz="1600" b="1" dirty="0" err="1">
                <a:solidFill>
                  <a:schemeClr val="bg1"/>
                </a:solidFill>
              </a:rPr>
              <a:t>Gradio</a:t>
            </a:r>
            <a:r>
              <a:rPr lang="en-US" sz="1600" b="1" dirty="0">
                <a:solidFill>
                  <a:schemeClr val="bg1"/>
                </a:solidFill>
              </a:rPr>
              <a:t>,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it provides a simple and interactive web-based interface that allows user to input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                 health  and lifestyle details.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Bodoni MT" panose="02070603080606020203" pitchFamily="18" charset="0"/>
              </a:rPr>
              <a:t>USER INPUTS </a:t>
            </a:r>
            <a:r>
              <a:rPr lang="en-US" sz="1600" dirty="0">
                <a:solidFill>
                  <a:schemeClr val="bg1"/>
                </a:solidFill>
              </a:rPr>
              <a:t>: Age, Sex, Hypertension, Heart Disease, BMI, HbA1c Level, Blood Glucose Level, Resting blood Pressure,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                     Cholesterol, Max Heart Rate.</a:t>
            </a:r>
          </a:p>
          <a:p>
            <a:endParaRPr lang="en-US" sz="1600" dirty="0">
              <a:solidFill>
                <a:schemeClr val="bg1"/>
              </a:solidFill>
              <a:latin typeface="Bodoni MT" panose="02070603080606020203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odoni MT" panose="02070603080606020203" pitchFamily="18" charset="0"/>
              </a:rPr>
              <a:t>BACKEND ML MODEL </a:t>
            </a:r>
            <a:r>
              <a:rPr lang="en-US" sz="1600" dirty="0">
                <a:solidFill>
                  <a:schemeClr val="bg1"/>
                </a:solidFill>
              </a:rPr>
              <a:t>: Trained using </a:t>
            </a:r>
            <a:r>
              <a:rPr lang="en-US" sz="1600" b="1" dirty="0">
                <a:solidFill>
                  <a:schemeClr val="bg1"/>
                </a:solidFill>
              </a:rPr>
              <a:t>Random Forest Classifier </a:t>
            </a:r>
            <a:r>
              <a:rPr lang="en-US" sz="1600" dirty="0">
                <a:solidFill>
                  <a:schemeClr val="bg1"/>
                </a:solidFill>
              </a:rPr>
              <a:t>and used processed health data.</a:t>
            </a:r>
          </a:p>
          <a:p>
            <a:endParaRPr lang="en-US" sz="1600" dirty="0">
              <a:solidFill>
                <a:schemeClr val="bg1"/>
              </a:solidFill>
              <a:latin typeface="Bodoni MT" panose="02070603080606020203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odoni MT" panose="02070603080606020203" pitchFamily="18" charset="0"/>
              </a:rPr>
              <a:t>OUTPUT  </a:t>
            </a:r>
            <a:r>
              <a:rPr lang="en-US" sz="1600" dirty="0">
                <a:solidFill>
                  <a:schemeClr val="bg1"/>
                </a:solidFill>
              </a:rPr>
              <a:t>: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Predicted disease risk for Diabetes, Stroke and Heart Disease.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Percentage probability</a:t>
            </a:r>
            <a:r>
              <a:rPr lang="en-US" sz="1600" dirty="0">
                <a:solidFill>
                  <a:schemeClr val="bg1"/>
                </a:solidFill>
              </a:rPr>
              <a:t> of each disease across age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Key contributing parameters</a:t>
            </a:r>
            <a:r>
              <a:rPr lang="en-US" sz="1600" dirty="0">
                <a:solidFill>
                  <a:schemeClr val="bg1"/>
                </a:solidFill>
              </a:rPr>
              <a:t> for each disease.</a:t>
            </a:r>
            <a:endParaRPr lang="en-US" sz="1600" dirty="0">
              <a:solidFill>
                <a:schemeClr val="bg1"/>
              </a:solidFill>
              <a:latin typeface="Bodoni MT" panose="02070603080606020203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1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C3BF1-A2F5-8B0F-EB60-F423E4AE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3188-C273-B95E-B588-C6B8107D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-233264"/>
            <a:ext cx="10655560" cy="149289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Datasets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C77ED-ABC8-433B-607D-9133323F9784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6B4EB-DEE2-B8D7-1F35-33B64C8D0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997" y="1007292"/>
            <a:ext cx="9056006" cy="557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4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5C63D-CAED-3C06-C27A-F9CBC0A6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13EF-EF35-1657-38AF-C6706AD8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-233264"/>
            <a:ext cx="10655560" cy="149289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Datasets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B4985-8106-4490-85DD-07AF9953D00D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C916F-5F67-9F4D-3F46-85079CC1D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22" y="1023558"/>
            <a:ext cx="10341835" cy="53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1322E-535D-0850-8A4E-F3A124D6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BD8C-0803-9020-C65C-B2679BAC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-233264"/>
            <a:ext cx="10655560" cy="149289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Datasets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D8E05-5A96-77E0-B7B5-442A152C74B8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F0411-BE22-5821-74E6-0F90E82A4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97" y="1013146"/>
            <a:ext cx="9358605" cy="560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0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DA378-93F6-3D5D-1021-B7ADFD3A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BE13-1243-8B04-8B44-CFD523CA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419878"/>
            <a:ext cx="11073882" cy="127081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Process on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953B6-25A9-8F73-74A4-52573117544A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9564D2-119A-6B74-0A5C-D4FF76D4C218}"/>
              </a:ext>
            </a:extLst>
          </p:cNvPr>
          <p:cNvSpPr/>
          <p:nvPr/>
        </p:nvSpPr>
        <p:spPr>
          <a:xfrm>
            <a:off x="618931" y="2123793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Data Collection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28E7D2-80D8-4E8E-A76E-1BEA783A9686}"/>
              </a:ext>
            </a:extLst>
          </p:cNvPr>
          <p:cNvSpPr/>
          <p:nvPr/>
        </p:nvSpPr>
        <p:spPr>
          <a:xfrm>
            <a:off x="4472475" y="2130397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Data Cleaning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69A7F6-F48E-3D58-9680-B6A164D16282}"/>
              </a:ext>
            </a:extLst>
          </p:cNvPr>
          <p:cNvSpPr/>
          <p:nvPr/>
        </p:nvSpPr>
        <p:spPr>
          <a:xfrm>
            <a:off x="727788" y="4598633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Disease Prediction</a:t>
            </a:r>
          </a:p>
          <a:p>
            <a:pPr algn="ctr"/>
            <a:r>
              <a:rPr lang="en-US" sz="2000" b="1" dirty="0"/>
              <a:t>&amp;</a:t>
            </a:r>
          </a:p>
          <a:p>
            <a:pPr algn="ctr"/>
            <a:r>
              <a:rPr lang="en-US" sz="2000" b="1" dirty="0"/>
              <a:t>Age group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EAC58F-5BE5-A2C6-63A6-1DA68E579A06}"/>
              </a:ext>
            </a:extLst>
          </p:cNvPr>
          <p:cNvSpPr/>
          <p:nvPr/>
        </p:nvSpPr>
        <p:spPr>
          <a:xfrm>
            <a:off x="8628486" y="2110671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Data Preprocessing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92AE7-487F-D4BA-C9D8-91131D8E213C}"/>
              </a:ext>
            </a:extLst>
          </p:cNvPr>
          <p:cNvSpPr/>
          <p:nvPr/>
        </p:nvSpPr>
        <p:spPr>
          <a:xfrm>
            <a:off x="4684745" y="4578613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Model Training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0D1BD2-FACD-D7F2-1A07-AB6D726C83C5}"/>
              </a:ext>
            </a:extLst>
          </p:cNvPr>
          <p:cNvSpPr/>
          <p:nvPr/>
        </p:nvSpPr>
        <p:spPr>
          <a:xfrm>
            <a:off x="8605936" y="4578613"/>
            <a:ext cx="2967134" cy="10636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Feature Selection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22E78BA-E6D4-7DC7-1053-BABF6046A993}"/>
              </a:ext>
            </a:extLst>
          </p:cNvPr>
          <p:cNvSpPr/>
          <p:nvPr/>
        </p:nvSpPr>
        <p:spPr>
          <a:xfrm>
            <a:off x="3752073" y="2485442"/>
            <a:ext cx="663251" cy="37730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C456474-1A65-C80A-A97D-2833A8791038}"/>
              </a:ext>
            </a:extLst>
          </p:cNvPr>
          <p:cNvSpPr/>
          <p:nvPr/>
        </p:nvSpPr>
        <p:spPr>
          <a:xfrm rot="10800000">
            <a:off x="7797282" y="4921806"/>
            <a:ext cx="663251" cy="37730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ECECF4C-B4CB-2D2D-2BFE-A8580330CA4D}"/>
              </a:ext>
            </a:extLst>
          </p:cNvPr>
          <p:cNvSpPr/>
          <p:nvPr/>
        </p:nvSpPr>
        <p:spPr>
          <a:xfrm rot="5400000">
            <a:off x="9673902" y="3731368"/>
            <a:ext cx="711069" cy="37730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FEFC7DD-2004-9D01-4EB0-AF600154BFCD}"/>
              </a:ext>
            </a:extLst>
          </p:cNvPr>
          <p:cNvSpPr/>
          <p:nvPr/>
        </p:nvSpPr>
        <p:spPr>
          <a:xfrm>
            <a:off x="7702422" y="2490981"/>
            <a:ext cx="663251" cy="37730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F82EC67-27A2-40CD-24DE-4ADB8B989283}"/>
              </a:ext>
            </a:extLst>
          </p:cNvPr>
          <p:cNvSpPr/>
          <p:nvPr/>
        </p:nvSpPr>
        <p:spPr>
          <a:xfrm rot="10800000">
            <a:off x="3840325" y="4900912"/>
            <a:ext cx="663251" cy="37730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7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6558-3D0A-F5D9-E795-3596FBCE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4F8F-C0F5-D710-F9A4-F7EDC9F3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8" y="151810"/>
            <a:ext cx="10944810" cy="111967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Graphical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B1AAC-C82D-72FA-4A2E-34A50939D569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DDFB6-89E0-E9EA-B86E-FC6190738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7" y="1950740"/>
            <a:ext cx="6381494" cy="4598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D0AB6A-8C5D-F539-824C-4F672A7C1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76" y="1950740"/>
            <a:ext cx="4926563" cy="45988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E5EF3E-2D2A-6CFF-4BEA-740FACD4EAA6}"/>
              </a:ext>
            </a:extLst>
          </p:cNvPr>
          <p:cNvSpPr txBox="1"/>
          <p:nvPr/>
        </p:nvSpPr>
        <p:spPr>
          <a:xfrm>
            <a:off x="2957804" y="1271484"/>
            <a:ext cx="9386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Analysis of Diabetes Risk Across Age Groups and Parameters</a:t>
            </a:r>
          </a:p>
        </p:txBody>
      </p:sp>
    </p:spTree>
    <p:extLst>
      <p:ext uri="{BB962C8B-B14F-4D97-AF65-F5344CB8AC3E}">
        <p14:creationId xmlns:p14="http://schemas.microsoft.com/office/powerpoint/2010/main" val="415695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31603-18E0-69CD-8E45-7AAAFD9D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0FFA-AA43-95D7-A371-FA244BB7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8" y="151810"/>
            <a:ext cx="10944810" cy="111967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Graphical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22D8D-3D47-3178-72B8-6D805906DDA6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E4C1B-42CB-8593-D35F-330D311D6AAC}"/>
              </a:ext>
            </a:extLst>
          </p:cNvPr>
          <p:cNvSpPr txBox="1"/>
          <p:nvPr/>
        </p:nvSpPr>
        <p:spPr>
          <a:xfrm>
            <a:off x="2957804" y="1271484"/>
            <a:ext cx="9386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Analysis of Stroke Risk Across Age Groups and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65679-CB56-337D-4FE7-4DAF8A2E6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7" y="1894114"/>
            <a:ext cx="6191269" cy="4581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D5D868-80D8-A868-5C27-A4B3A9DF6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384" y="1894113"/>
            <a:ext cx="5006280" cy="45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0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AF4A1-8621-0BE1-9F36-CED0A319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2668-AC41-FFCF-701B-F597E246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8" y="151810"/>
            <a:ext cx="10944810" cy="111967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Graphical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D7C4A-53A6-F6F7-87E0-27A83E26A2E0}"/>
              </a:ext>
            </a:extLst>
          </p:cNvPr>
          <p:cNvSpPr txBox="1"/>
          <p:nvPr/>
        </p:nvSpPr>
        <p:spPr>
          <a:xfrm rot="10800000" flipH="1" flipV="1">
            <a:off x="139959" y="3397514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31D11-D24C-1B0F-1876-0472A422D52E}"/>
              </a:ext>
            </a:extLst>
          </p:cNvPr>
          <p:cNvSpPr txBox="1"/>
          <p:nvPr/>
        </p:nvSpPr>
        <p:spPr>
          <a:xfrm>
            <a:off x="2957804" y="1271484"/>
            <a:ext cx="9386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Analysis of Heart Disease Risk Across Age Groups and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45606-B4D6-1E84-4483-21DA52330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6" y="1819060"/>
            <a:ext cx="6540759" cy="4768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E2D44B-5090-5A6A-CCD4-5261B6351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417" y="1819060"/>
            <a:ext cx="4895783" cy="47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11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5BF2B-9E29-0BE8-17ED-753325E83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9A9F-A2F1-DEC4-33CF-7A42DF90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931" y="2416629"/>
            <a:ext cx="3000270" cy="128859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User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8D915-BD52-1B3B-8178-4636DB75CEAF}"/>
              </a:ext>
            </a:extLst>
          </p:cNvPr>
          <p:cNvSpPr txBox="1"/>
          <p:nvPr/>
        </p:nvSpPr>
        <p:spPr>
          <a:xfrm rot="10800000" flipH="1" flipV="1">
            <a:off x="-2024743" y="2903967"/>
            <a:ext cx="1240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8C94F-DF37-E627-C11A-E1465F2D7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294" y="147524"/>
            <a:ext cx="6168489" cy="65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0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5B818-1157-BB96-2216-44B9133C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399B-45CF-E15F-EF44-431B25EC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23A3C-CE07-6727-E384-75062B209F7B}"/>
              </a:ext>
            </a:extLst>
          </p:cNvPr>
          <p:cNvSpPr txBox="1"/>
          <p:nvPr/>
        </p:nvSpPr>
        <p:spPr>
          <a:xfrm rot="10800000" flipH="1" flipV="1">
            <a:off x="121298" y="1600628"/>
            <a:ext cx="1207070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project demonstrates the effective use of ML techniques to predict the risk of lifestyle diseases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such as </a:t>
            </a:r>
            <a:r>
              <a:rPr lang="en-US" sz="2000" b="1" dirty="0">
                <a:solidFill>
                  <a:schemeClr val="bg1"/>
                </a:solidFill>
              </a:rPr>
              <a:t>Diabetes, Stroke, and Heart Disease </a:t>
            </a:r>
            <a:r>
              <a:rPr lang="en-US" sz="2000" dirty="0">
                <a:solidFill>
                  <a:schemeClr val="bg1"/>
                </a:solidFill>
              </a:rPr>
              <a:t>by performing age group–wise analysis.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From the results, </a:t>
            </a:r>
            <a:r>
              <a:rPr lang="en-US" sz="2000" b="1" dirty="0">
                <a:solidFill>
                  <a:schemeClr val="bg1"/>
                </a:solidFill>
              </a:rPr>
              <a:t>senior citizens show the highest risk for both diabetes and stroke</a:t>
            </a:r>
            <a:r>
              <a:rPr lang="en-US" sz="2000" dirty="0">
                <a:solidFill>
                  <a:schemeClr val="bg1"/>
                </a:solidFill>
              </a:rPr>
              <a:t>, indicating that these diseases are more relevant in older age groups.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contrast, </a:t>
            </a:r>
            <a:r>
              <a:rPr lang="en-US" sz="2000" b="1" dirty="0">
                <a:solidFill>
                  <a:schemeClr val="bg1"/>
                </a:solidFill>
              </a:rPr>
              <a:t>heart disease risk is observed comparatively higher among teenagers and adults </a:t>
            </a:r>
            <a:r>
              <a:rPr lang="en-US" sz="2000" dirty="0">
                <a:solidFill>
                  <a:schemeClr val="bg1"/>
                </a:solidFill>
              </a:rPr>
              <a:t>based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 the model predictions.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bg1"/>
                </a:solidFill>
              </a:rPr>
              <a:t>Chidrens</a:t>
            </a:r>
            <a:r>
              <a:rPr lang="en-US" sz="2000" dirty="0">
                <a:solidFill>
                  <a:schemeClr val="bg1"/>
                </a:solidFill>
              </a:rPr>
              <a:t> consistently show minimal risk across all three diseases.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Random Forest model</a:t>
            </a:r>
            <a:r>
              <a:rPr lang="en-US" sz="2000" dirty="0">
                <a:solidFill>
                  <a:schemeClr val="bg1"/>
                </a:solidFill>
              </a:rPr>
              <a:t> effectively identifies key health and lifestyle parameters influencing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each disease.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Overall, the system provides valuable insights into age-based disease risk patterns and supports early awareness and preventive healthcare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16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E9444-EF07-01CF-D88A-FEDFA046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0808-6731-B105-1426-0D516C1B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15D76-E5AE-5DFD-8C17-28FB45FEA06E}"/>
              </a:ext>
            </a:extLst>
          </p:cNvPr>
          <p:cNvSpPr txBox="1"/>
          <p:nvPr/>
        </p:nvSpPr>
        <p:spPr>
          <a:xfrm rot="10800000" flipH="1" flipV="1">
            <a:off x="653143" y="1719616"/>
            <a:ext cx="1153885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Deployment as a web or mobile application for wider public accessibility.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Enhancement of model performance using advanced machine learning and deep learning techniques.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Integration with real-time health data from wearable devices and medical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Expansion of the system to predict more lifestyle-related diseases.</a:t>
            </a:r>
          </a:p>
        </p:txBody>
      </p:sp>
    </p:spTree>
    <p:extLst>
      <p:ext uri="{BB962C8B-B14F-4D97-AF65-F5344CB8AC3E}">
        <p14:creationId xmlns:p14="http://schemas.microsoft.com/office/powerpoint/2010/main" val="1416778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C0068-0170-CDE1-FE8A-62A0FB05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F550-DA84-734E-B871-A9016FE6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01E8C-BFD6-0104-BE35-3AB481535A24}"/>
              </a:ext>
            </a:extLst>
          </p:cNvPr>
          <p:cNvSpPr txBox="1"/>
          <p:nvPr/>
        </p:nvSpPr>
        <p:spPr>
          <a:xfrm rot="10800000" flipH="1" flipV="1">
            <a:off x="653143" y="2181279"/>
            <a:ext cx="115388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Diabetes Prediction Dataset – Kaggle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URL:  </a:t>
            </a:r>
            <a:r>
              <a:rPr lang="en-US" sz="2000" dirty="0">
                <a:hlinkClick r:id="rId3"/>
              </a:rPr>
              <a:t>https://www.kaggle.com/datasets/iammustafatz/diabetes-prediction-dataset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Stroke Prediction Dataset – Kaggle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URL:</a:t>
            </a:r>
            <a:r>
              <a:rPr lang="en-US" sz="2000" dirty="0">
                <a:hlinkClick r:id="rId4"/>
              </a:rPr>
              <a:t>https://www.kaggle.com/datasets/fedesoriano/stroke-prediction-dataset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Heart Disease Dataset – Kaggle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URL:</a:t>
            </a:r>
            <a:r>
              <a:rPr lang="en-US" sz="2000" dirty="0">
                <a:hlinkClick r:id="rId5"/>
              </a:rPr>
              <a:t>https://www.kaggle.com/datasets/prosperchuks/health-dataset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80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23C5B-2275-4C8C-50C3-8A897710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6417-3A8B-A8C6-35A8-4BED816D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5643789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95000"/>
                  </a:schemeClr>
                </a:solidFill>
                <a:latin typeface="Bodoni MT Condensed" panose="02070606080606020203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62757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403</TotalTime>
  <Words>609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Bahnschrift Condensed</vt:lpstr>
      <vt:lpstr>Baskerville Old Face</vt:lpstr>
      <vt:lpstr>Bodoni MT</vt:lpstr>
      <vt:lpstr>Bodoni MT Condensed</vt:lpstr>
      <vt:lpstr>office theme</vt:lpstr>
      <vt:lpstr>Lifestyle Disease Risk  Prediction System </vt:lpstr>
      <vt:lpstr>Introduction</vt:lpstr>
      <vt:lpstr>Objectives of the Study</vt:lpstr>
      <vt:lpstr>Design of System</vt:lpstr>
      <vt:lpstr>Datasets</vt:lpstr>
      <vt:lpstr>Datasets</vt:lpstr>
      <vt:lpstr>Datasets</vt:lpstr>
      <vt:lpstr>Process on dataset</vt:lpstr>
      <vt:lpstr>Graphical Overview</vt:lpstr>
      <vt:lpstr>Graphical Overview</vt:lpstr>
      <vt:lpstr>Graphical Overview</vt:lpstr>
      <vt:lpstr>User Interface</vt:lpstr>
      <vt:lpstr>Conclusion</vt:lpstr>
      <vt:lpstr>Future Scope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jibi k a</cp:lastModifiedBy>
  <cp:revision>14</cp:revision>
  <dcterms:created xsi:type="dcterms:W3CDTF">2026-02-08T10:27:32Z</dcterms:created>
  <dcterms:modified xsi:type="dcterms:W3CDTF">2026-02-19T05:11:19Z</dcterms:modified>
</cp:coreProperties>
</file>